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4" r:id="rId6"/>
    <p:sldId id="266" r:id="rId7"/>
    <p:sldId id="267" r:id="rId8"/>
    <p:sldId id="268" r:id="rId9"/>
    <p:sldId id="271" r:id="rId10"/>
    <p:sldId id="273" r:id="rId11"/>
    <p:sldId id="272" r:id="rId12"/>
    <p:sldId id="259" r:id="rId13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UDM6Ae9C3YrxVlldXvCL2TFIM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411" y="67"/>
      </p:cViewPr>
      <p:guideLst>
        <p:guide pos="311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607432B-017C-529D-D1B6-6B05525A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69DFC84-3D0E-1D1B-D394-6A0163A2E0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94726B7D-AA5F-4A68-0AAC-56126F489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708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B697A679-C1E2-EC44-CCF2-62951186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E8675CE-DB58-D1CC-D460-827AB1CD9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7950A029-3477-F2DA-B359-106AEF5E0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00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19879873-08C8-07DF-E4E9-5F4F066B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174979F-A91F-026B-1501-33C8212A6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08B8EB22-5C4D-BF29-04DD-3AE43E9D1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050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7A0C50E6-3FD6-EB44-E555-B4D568CB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FAC129F-28BB-1D28-83B6-CA3B7C603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688DEA7E-0D40-DCE4-6B81-9E3DA9645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856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06E2305E-FEF5-4AB3-13B6-3298931D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68049F8-F38B-8623-2832-72BEEB829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248D31FF-4690-E85F-C827-AAFC47B8CC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795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601764A9-96FC-CB6A-E0C4-44EF354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6C7C24B-C5E3-D623-4FFC-DDD1DE584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5CE54440-D4BE-6003-9C45-591E917DA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640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ECF117F-7F06-07B8-3528-1EF2BBE6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B2481D1-8127-D901-9C5E-018A77564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DD915DBB-8A7A-0958-B381-07B8D4FF9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814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ED21C3F7-F6A7-6FF6-C4AC-C0F877C0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9A0786A-C281-5828-C6B6-6CF9FF82D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7B2DB819-B033-4F8D-858C-304A83C9D4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773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Artificial Intelligence Course</a:t>
            </a:r>
            <a:endParaRPr sz="2400" b="0" i="0" u="none" strike="noStrike" cap="non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">
  <p:cSld name="2_Table of Conten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8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8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sz="17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sz="17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4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5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1945" algn="l" rtl="0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4640" algn="l" rtl="0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Font typeface="Arial"/>
              <a:buChar char="•"/>
              <a:defRPr sz="13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Nova AI Ecosystem: Dual-AI Solutions Suite</a:t>
            </a:r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AI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dy">
  <p:cSld name="1_Body">
    <p:bg>
      <p:bgPr>
        <a:solidFill>
          <a:srgbClr val="F2F2F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CodeByDiablo/RAG-Age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hyperlink" Target="https://huggingface.co/spaces/CodeByDiablo/Resume-Screener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ic-team013-frontend.vercel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hyperlink" Target="https://github.com/CodeByDiablo/SIC-25-26-Team013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IN" dirty="0"/>
              <a:t>Team Nova (Team 013)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683780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pt-BR" dirty="0"/>
              <a:t>Nova AI Ecosystem: Dual-AI Solutions Suite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892040"/>
            <a:ext cx="4379913" cy="1063094"/>
            <a:chOff x="4181256" y="3224809"/>
            <a:chExt cx="4379913" cy="1063094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1. Introduction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0752" y="3641572"/>
              <a:ext cx="3400417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1.1. Motivation &amp; Problem Statement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1.2. Objectives &amp; Solution Overview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1.3. Team Roles</a:t>
              </a:r>
              <a:endParaRPr dirty="0"/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710836" y="3266753"/>
            <a:ext cx="5146016" cy="1063094"/>
            <a:chOff x="4181256" y="3224809"/>
            <a:chExt cx="4379913" cy="1063094"/>
          </a:xfrm>
        </p:grpSpPr>
        <p:sp>
          <p:nvSpPr>
            <p:cNvPr id="93" name="Google Shape;93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2. Project Execution</a:t>
              </a:r>
              <a:endParaRPr dirty="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018673" y="3641572"/>
              <a:ext cx="34135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2.1. System Architecture (Headless Microservices)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2.2. Workflow A: Intelligent Resume Screener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2.3. Workflow B: AI Research Agent (RAG)</a:t>
              </a:r>
              <a:endParaRPr dirty="0"/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710836" y="4641466"/>
            <a:ext cx="4379913" cy="1063094"/>
            <a:chOff x="4181256" y="3224809"/>
            <a:chExt cx="4379913" cy="1063094"/>
          </a:xfrm>
        </p:grpSpPr>
        <p:sp>
          <p:nvSpPr>
            <p:cNvPr id="97" name="Google Shape;97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3. Results &amp; Impact</a:t>
              </a: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160752" y="3641572"/>
              <a:ext cx="3400417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3.1. Key Results &amp; Performance Metrics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3.2. Live Demo &amp; User Interface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3.3. Future Scope</a:t>
              </a:r>
              <a:endParaRPr dirty="0"/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Nova AI Ecosystem: Dual-AI Solutions Suite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en-US" dirty="0"/>
              <a:t>The Unstructured Data Bottleneck</a:t>
            </a:r>
            <a:endParaRPr dirty="0"/>
          </a:p>
        </p:txBody>
      </p:sp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/>
              <a:t>1.1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Motivation &amp; Problem Statement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5"/>
          </p:nvPr>
        </p:nvSpPr>
        <p:spPr>
          <a:xfrm>
            <a:off x="522288" y="2221660"/>
            <a:ext cx="8055439" cy="356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747" lvl="0" indent="-177747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</a:pPr>
            <a:r>
              <a:rPr lang="en-US" dirty="0"/>
              <a:t>Recruitment Bottlenecks:</a:t>
            </a:r>
          </a:p>
          <a:p>
            <a:pPr marL="360255" lvl="1" indent="-182507"/>
            <a:r>
              <a:rPr lang="en-US" dirty="0"/>
              <a:t>HR teams are overwhelmed by volume. Manual screening causes bias and slow "Time-to-Hire."Level-1</a:t>
            </a:r>
          </a:p>
          <a:p>
            <a:pPr marL="177747" lvl="0" indent="-177747">
              <a:spcBef>
                <a:spcPts val="0"/>
              </a:spcBef>
            </a:pPr>
            <a:r>
              <a:rPr lang="en-US" dirty="0"/>
              <a:t>Research Inefficiency:</a:t>
            </a:r>
          </a:p>
          <a:p>
            <a:pPr marL="360255" marR="0" lvl="1" indent="-182507" algn="l" defTabSz="914400" rtl="0" eaLnBrk="1" fontAlgn="auto" latinLnBrk="0" hangingPunct="1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Font typeface="Arial"/>
              <a:buChar char="•"/>
              <a:tabLst/>
              <a:defRPr/>
            </a:pPr>
            <a:r>
              <a:rPr lang="en-US" dirty="0"/>
              <a:t>Researchers struggle to find specific answers in dense technical PDFs using standard keyword search (Ctrl+F).</a:t>
            </a:r>
          </a:p>
          <a:p>
            <a:pPr marL="177747" lvl="0" indent="-177747">
              <a:spcBef>
                <a:spcPts val="0"/>
              </a:spcBef>
            </a:pPr>
            <a:r>
              <a:rPr lang="en-US" dirty="0"/>
              <a:t>The Need: </a:t>
            </a:r>
          </a:p>
          <a:p>
            <a:pPr marL="356616" marR="0" indent="-182880" algn="l" rtl="0" eaLnBrk="1" fontAlgn="auto" latinLnBrk="0" hangingPunct="1">
              <a:lnSpc>
                <a:spcPct val="138000"/>
              </a:lnSpc>
              <a:spcBef>
                <a:spcPts val="500"/>
              </a:spcBef>
              <a:buClr>
                <a:srgbClr val="262626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300" b="0" i="0" spc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 unified, automated system to handle unstructured text data (Resumes &amp; Research Papers) efficiently.</a:t>
            </a:r>
            <a:endParaRPr lang="en-US" sz="1300" dirty="0"/>
          </a:p>
          <a:p>
            <a:pPr marL="0" lvl="0" indent="0">
              <a:spcBef>
                <a:spcPts val="0"/>
              </a:spcBef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8CC3C2-8BC8-29DB-1F21-055E2479F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25" r="22506" b="6521"/>
          <a:stretch>
            <a:fillRect/>
          </a:stretch>
        </p:blipFill>
        <p:spPr>
          <a:xfrm>
            <a:off x="7905229" y="4635946"/>
            <a:ext cx="1548221" cy="1741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746BAE-6654-E0B4-FB10-E9531F1227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26"/>
          <a:stretch>
            <a:fillRect/>
          </a:stretch>
        </p:blipFill>
        <p:spPr>
          <a:xfrm>
            <a:off x="449375" y="4722023"/>
            <a:ext cx="1825642" cy="16551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2BAF819-BF6B-564F-8581-63A5826A8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44F312F7-8006-EE97-B1A9-D7C470693D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en-IN" dirty="0"/>
              <a:t>Solution - Nova AI Ecosystem</a:t>
            </a:r>
            <a:endParaRPr dirty="0"/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105F8301-9F91-D970-7D90-933EF46441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1.2</a:t>
            </a:r>
            <a:endParaRPr dirty="0"/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6001B26-03EC-9489-6628-F54264BB019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Objectives &amp; Solution Overview</a:t>
            </a: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411687D-B3B3-BD1E-1871-EC213C5014F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9176A749-27D9-6B84-F946-A9F6F6F8550A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2BFB423E-933C-BAF6-07BD-A3D82F5B1364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522288" y="2221661"/>
            <a:ext cx="8055439" cy="366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spcBef>
                <a:spcPts val="0"/>
              </a:spcBef>
            </a:pPr>
            <a:r>
              <a:rPr lang="en-IN" dirty="0"/>
              <a:t>Objective: </a:t>
            </a:r>
            <a:r>
              <a:rPr lang="en-US" dirty="0"/>
              <a:t>To demonstrate a "Headless Microservices" architecture for scalable AI deployment.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177747" marR="0" lvl="0" indent="-177747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  <a:tabLst/>
              <a:defRPr/>
            </a:pPr>
            <a:r>
              <a:rPr lang="en-IN" dirty="0"/>
              <a:t>  Nova AI Ecosystem:</a:t>
            </a:r>
          </a:p>
          <a:p>
            <a:pPr marL="360255" marR="0" lvl="1" indent="-182507" algn="l" defTabSz="914400" rtl="0" eaLnBrk="1" fontAlgn="auto" latinLnBrk="0" hangingPunct="1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Font typeface="Arial"/>
              <a:buChar char="•"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Resume Screener: Acts as a "Strict ATS" using Llama 3 to score candidates and draft cover letters.</a:t>
            </a:r>
          </a:p>
          <a:p>
            <a:pPr marL="360255" marR="0" lvl="1" indent="-182507" algn="l" defTabSz="914400" rtl="0" eaLnBrk="1" fontAlgn="auto" latinLnBrk="0" hangingPunct="1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Research Agent: Uses RAG (Retrieval-Augmented Generation) to answer queries from technical papers.</a:t>
            </a:r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9599A10F-C683-9C86-4D2A-F7D663CCA0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75" t="11857" r="16243" b="19377"/>
          <a:stretch>
            <a:fillRect/>
          </a:stretch>
        </p:blipFill>
        <p:spPr>
          <a:xfrm>
            <a:off x="449375" y="3943514"/>
            <a:ext cx="4391720" cy="2464485"/>
          </a:xfrm>
          <a:prstGeom prst="rect">
            <a:avLst/>
          </a:prstGeom>
        </p:spPr>
      </p:pic>
      <p:pic>
        <p:nvPicPr>
          <p:cNvPr id="5" name="Picture 4">
            <a:hlinkClick r:id="rId5"/>
            <a:extLst>
              <a:ext uri="{FF2B5EF4-FFF2-40B4-BE49-F238E27FC236}">
                <a16:creationId xmlns:a16="http://schemas.microsoft.com/office/drawing/2014/main" id="{A38381DF-DC27-E913-8D2B-69083A1BE5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176" t="11134" r="15161" b="16526"/>
          <a:stretch>
            <a:fillRect/>
          </a:stretch>
        </p:blipFill>
        <p:spPr>
          <a:xfrm>
            <a:off x="4988817" y="4138318"/>
            <a:ext cx="4464633" cy="226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90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AB6D40B9-72E2-1A62-DB05-E507154E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E654332B-1DC7-8288-98D3-E850E90DF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1.3</a:t>
            </a:r>
            <a:endParaRPr dirty="0"/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79CFC7DC-2941-ECE5-5039-700DEB8820B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Team Roles</a:t>
            </a: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B010F81E-6570-BEC1-77EF-D49EE55AB93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DFA0026-CC93-E43E-0A25-F10FFCA2628A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27B71B91-1FE8-5747-F9F9-9F300053F5D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532628" y="1459664"/>
            <a:ext cx="8055439" cy="435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spcBef>
                <a:spcPts val="0"/>
              </a:spcBef>
            </a:pPr>
            <a:r>
              <a:rPr lang="en-US" sz="1300" dirty="0"/>
              <a:t>Vasamsetti Naga Bala (Swamy) – Team Leader</a:t>
            </a:r>
          </a:p>
          <a:p>
            <a:pPr marL="285750" indent="-285750">
              <a:spcBef>
                <a:spcPts val="0"/>
              </a:spcBef>
            </a:pPr>
            <a:r>
              <a:rPr lang="en-US" sz="1300" dirty="0"/>
              <a:t>Kovvuri PC Durga Reddy – Model Builder</a:t>
            </a:r>
          </a:p>
          <a:p>
            <a:pPr marL="285750" indent="-285750">
              <a:spcBef>
                <a:spcPts val="0"/>
              </a:spcBef>
            </a:pPr>
            <a:r>
              <a:rPr lang="en-US" sz="1300" dirty="0"/>
              <a:t>Devesh Panwar – Presentation</a:t>
            </a:r>
          </a:p>
          <a:p>
            <a:pPr marL="285750" indent="-285750">
              <a:spcBef>
                <a:spcPts val="0"/>
              </a:spcBef>
            </a:pPr>
            <a:r>
              <a:rPr lang="en-US" sz="1300" dirty="0"/>
              <a:t>Sakshi – Research &amp; Testing</a:t>
            </a:r>
          </a:p>
          <a:p>
            <a:pPr marL="285750" indent="-285750">
              <a:spcBef>
                <a:spcPts val="0"/>
              </a:spcBef>
            </a:pPr>
            <a:r>
              <a:rPr lang="it-IT" sz="1300" dirty="0"/>
              <a:t>Dhadi Eswar – Data Lead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6C85D-D4EA-3F42-83F6-E104A32B27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38" t="15269" b="3799"/>
          <a:stretch>
            <a:fillRect/>
          </a:stretch>
        </p:blipFill>
        <p:spPr>
          <a:xfrm>
            <a:off x="3440573" y="2222090"/>
            <a:ext cx="6012877" cy="3958485"/>
          </a:xfrm>
          <a:prstGeom prst="roundRect">
            <a:avLst>
              <a:gd name="adj" fmla="val 1027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2155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02FDCDB-69C9-B48C-6A8B-C55BA464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B7777508-F1E0-E6A9-1C40-9880AD0892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en-US" dirty="0"/>
              <a:t>The Headless Approach</a:t>
            </a:r>
            <a:endParaRPr dirty="0"/>
          </a:p>
        </p:txBody>
      </p:sp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DE5217D2-102F-5687-A0B5-7616A9DF3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2.1</a:t>
            </a:r>
            <a:endParaRPr dirty="0"/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50891C2-D651-07EF-3C47-2E089222EF3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System Architecture (Headless Microservices)</a:t>
            </a: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D21FC52E-14FD-0538-D6AF-3B5D5C4E879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02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F1A423E4-EA65-B8FC-8FD9-0FB32129DC2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D71AAA-9498-6F1A-77C2-0396E09BC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8" y="1932444"/>
            <a:ext cx="8952412" cy="444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72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22764E3-2F91-2050-4579-34993A81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FF1B3BAE-8F47-3360-5F8E-8BD0BDE60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2.2</a:t>
            </a:r>
            <a:endParaRPr dirty="0"/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42A7EBF4-2367-8359-41D2-A021DB6CD62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Workflow A: Intelligent Resume Screener</a:t>
            </a: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2EDDB5D-E04E-18F6-1195-B8F21B041AF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02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26CB6D48-68D4-8E1C-9ACB-DAF5CB8145B0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86F7F5-B1BF-430B-B570-74E5B0AC7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8" y="2184043"/>
            <a:ext cx="8935610" cy="4223956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B3265D8-FAB3-8D1C-2283-72B7D8E81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68" y="1400909"/>
            <a:ext cx="893561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Raw PDF Text + Job Description.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Methodology: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Zero-Shot Prompting.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Process: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model acts as an objective evaluator, extracting hard skills and comparing them to the JD.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Output: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JSON structure with Match Score (0-100%), Missing Keywords, and Drafted Cover Letter.</a:t>
            </a:r>
          </a:p>
        </p:txBody>
      </p:sp>
    </p:spTree>
    <p:extLst>
      <p:ext uri="{BB962C8B-B14F-4D97-AF65-F5344CB8AC3E}">
        <p14:creationId xmlns:p14="http://schemas.microsoft.com/office/powerpoint/2010/main" val="13394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943E301-0786-B4D1-6C5B-3AC07C50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8896B31D-055C-1801-2BE2-A4B9F4FDF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2.3</a:t>
            </a:r>
            <a:endParaRPr dirty="0"/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4FDB1CC-F07C-7E8F-11A5-A28D8AA5966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Workflow B: AI Research Agent (RAG)</a:t>
            </a: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5CE4F59-C0E7-617D-E8B1-49959B7C83C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02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79502A07-CC72-99DF-8DC4-75EE2C96793A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EE5957-8783-08F4-3C91-9A0256CE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08"/>
          <a:stretch>
            <a:fillRect/>
          </a:stretch>
        </p:blipFill>
        <p:spPr>
          <a:xfrm>
            <a:off x="1065369" y="2311986"/>
            <a:ext cx="7772086" cy="4017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65AB4E-FCEB-D374-824B-1099EA09F936}"/>
              </a:ext>
            </a:extLst>
          </p:cNvPr>
          <p:cNvSpPr txBox="1"/>
          <p:nvPr/>
        </p:nvSpPr>
        <p:spPr>
          <a:xfrm>
            <a:off x="0" y="1236968"/>
            <a:ext cx="8209934" cy="973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Chunking:</a:t>
            </a:r>
            <a:r>
              <a:rPr lang="en-IN" dirty="0">
                <a:latin typeface="+mj-lt"/>
              </a:rPr>
              <a:t> Documents split into 1000-character chunks (200 overlap).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Embedding:</a:t>
            </a:r>
            <a:r>
              <a:rPr lang="en-IN" dirty="0">
                <a:latin typeface="+mj-lt"/>
              </a:rPr>
              <a:t> all-MiniLM-L6-v2 model converts text to vectors.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Retrieval:</a:t>
            </a:r>
            <a:r>
              <a:rPr lang="en-IN" dirty="0">
                <a:latin typeface="+mj-lt"/>
              </a:rPr>
              <a:t> FAISS retrieves the top 3 most relevant chunks based on user query.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+mj-lt"/>
              </a:rPr>
              <a:t>Generation:</a:t>
            </a:r>
            <a:r>
              <a:rPr lang="en-IN" dirty="0">
                <a:latin typeface="+mj-lt"/>
              </a:rPr>
              <a:t> Llama 3 synthesizes the final answer using the retrieved context.</a:t>
            </a:r>
          </a:p>
        </p:txBody>
      </p:sp>
    </p:spTree>
    <p:extLst>
      <p:ext uri="{BB962C8B-B14F-4D97-AF65-F5344CB8AC3E}">
        <p14:creationId xmlns:p14="http://schemas.microsoft.com/office/powerpoint/2010/main" val="91599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A55B2205-1A58-6B10-5A96-3F35A7ABC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DEB606DE-B7AF-96C4-6348-B502DA64AD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3.1</a:t>
            </a:r>
            <a:endParaRPr dirty="0"/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2B4A4A96-DCAE-D369-9312-5C6E430B45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Key Results &amp; Performance Metrics</a:t>
            </a: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D1B65E23-18EA-B2D8-FA2A-40C0C9DB560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03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50AFF479-A76F-212C-650C-BA9B2D157A73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52875AE-033E-44FC-81A4-E74D5EB4A894}"/>
              </a:ext>
            </a:extLst>
          </p:cNvPr>
          <p:cNvSpPr>
            <a:spLocks noGrp="1" noChangeArrowheads="1"/>
          </p:cNvSpPr>
          <p:nvPr>
            <p:ph type="body" idx="5"/>
          </p:nvPr>
        </p:nvSpPr>
        <p:spPr bwMode="auto">
          <a:xfrm>
            <a:off x="449468" y="1561879"/>
            <a:ext cx="900398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95% success rate in generating valid JSON outputs for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retrieval time of 1.2 seconds for the RAG agent.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screening reduces manual review time by ~70%.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tested on diverse datasets (Google/Uber resumes &amp; arXiv papers).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9F69A1-E359-9A92-EF2E-CD88EBA24E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13"/>
          <a:stretch>
            <a:fillRect/>
          </a:stretch>
        </p:blipFill>
        <p:spPr>
          <a:xfrm>
            <a:off x="449468" y="2979179"/>
            <a:ext cx="9003982" cy="326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79B79E5F-6CA0-200A-93DC-E623491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04F9D43F-91EF-A2DB-6416-04DA4259D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3.2</a:t>
            </a:r>
            <a:endParaRPr dirty="0"/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1269DEA9-2A95-0FFF-7D74-0DEF70B1359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Live Demo &amp; User Interface</a:t>
            </a: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D58E913-007A-5FCA-9AEC-67ED5F8049A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03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2CB3CBB2-681C-F841-28AE-4174A5CEB376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F2FC722-F52B-B0AB-28E7-134F167C4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68" y="1350891"/>
            <a:ext cx="90039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Unified Dashboard: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Hosted on Vercel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3"/>
              </a:rPr>
              <a:t>sic-team013-frontend.vercel.app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Features: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Drag-and-drop PDF upload, Real-time Chat Interface, Visual Match Score display.</a:t>
            </a:r>
          </a:p>
        </p:txBody>
      </p:sp>
      <p:pic>
        <p:nvPicPr>
          <p:cNvPr id="8" name="Picture 7">
            <a:hlinkClick r:id="rId4"/>
            <a:extLst>
              <a:ext uri="{FF2B5EF4-FFF2-40B4-BE49-F238E27FC236}">
                <a16:creationId xmlns:a16="http://schemas.microsoft.com/office/drawing/2014/main" id="{699A081F-F252-A65E-C9B1-EB28C6EF4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031" y="2051087"/>
            <a:ext cx="7748761" cy="43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14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A2A98155-46FB-5795-07F4-C02A3882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>
            <a:extLst>
              <a:ext uri="{FF2B5EF4-FFF2-40B4-BE49-F238E27FC236}">
                <a16:creationId xmlns:a16="http://schemas.microsoft.com/office/drawing/2014/main" id="{7F3C8F83-AC98-F09E-9F0E-9E6562F8D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3.3</a:t>
            </a:r>
            <a:endParaRPr dirty="0"/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236E7C1-8877-EEFA-F756-BAA178C0B3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/>
              <a:t> Future Scope</a:t>
            </a: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5CBDBF30-BCD7-F6DC-B51F-A99CDC9A19D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03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F9FF9004-7516-E412-C981-CF02F1F7FAE8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675542" y="480779"/>
            <a:ext cx="532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/>
              <a:t>UNIT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9F1D637-B7A7-0477-D7BB-9872CD8D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67" y="1611870"/>
            <a:ext cx="900398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Multi-Modal Support: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Integrating OCR for scanned/handwritten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Adding PostgreSQL for long-term candidate profile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Fine-Tuning: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a smaller Llama 3-8B model locally for privacy-first enterprise deployment.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7922A9-218F-C0FC-EEE5-710CA0A86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6" y="2455688"/>
            <a:ext cx="9003983" cy="39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564</Words>
  <Application>Microsoft Office PowerPoint</Application>
  <PresentationFormat>Custom</PresentationFormat>
  <Paragraphs>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Calibri</vt:lpstr>
      <vt:lpstr>Office Theme</vt:lpstr>
      <vt:lpstr>Nova AI Ecosystem: Dual-AI Solutions Suite</vt:lpstr>
      <vt:lpstr>PowerPoint Presentation</vt:lpstr>
      <vt:lpstr>The Unstructured Data Bottleneck</vt:lpstr>
      <vt:lpstr>Solution - Nova AI Ecosystem</vt:lpstr>
      <vt:lpstr>PowerPoint Presentation</vt:lpstr>
      <vt:lpstr>The Headless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Soon Yong Chang</dc:creator>
  <cp:lastModifiedBy>Devesh Panwar</cp:lastModifiedBy>
  <cp:revision>6</cp:revision>
  <cp:lastPrinted>2026-02-11T04:37:35Z</cp:lastPrinted>
  <dcterms:created xsi:type="dcterms:W3CDTF">2019-07-06T14:12:49Z</dcterms:created>
  <dcterms:modified xsi:type="dcterms:W3CDTF">2026-02-11T07:11:58Z</dcterms:modified>
</cp:coreProperties>
</file>